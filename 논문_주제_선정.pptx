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5"/>
  </p:notesMasterIdLst>
  <p:sldIdLst>
    <p:sldId id="430" r:id="rId2"/>
    <p:sldId id="432" r:id="rId3"/>
    <p:sldId id="431" r:id="rId4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토" id="{CDC8D7F5-3045-4772-AF5D-321FC70EBC7A}">
          <p14:sldIdLst>
            <p14:sldId id="430"/>
            <p14:sldId id="432"/>
            <p14:sldId id="4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00"/>
    <a:srgbClr val="0033CC"/>
    <a:srgbClr val="6600CC"/>
    <a:srgbClr val="0099FF"/>
    <a:srgbClr val="FF00FF"/>
    <a:srgbClr val="000099"/>
    <a:srgbClr val="000066"/>
    <a:srgbClr val="000048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39" autoAdjust="0"/>
    <p:restoredTop sz="94660" autoAdjust="0"/>
  </p:normalViewPr>
  <p:slideViewPr>
    <p:cSldViewPr snapToGrid="0">
      <p:cViewPr varScale="1">
        <p:scale>
          <a:sx n="95" d="100"/>
          <a:sy n="95" d="100"/>
        </p:scale>
        <p:origin x="1162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8FBC7-21FD-4BAC-857B-5547A7665F4D}" type="datetimeFigureOut">
              <a:rPr lang="ko-KR" altLang="en-US" smtClean="0"/>
              <a:t>2025-10-11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93EC5-6F77-4AB3-B166-7E6ED77B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813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028703"/>
            <a:ext cx="74295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824379"/>
            <a:ext cx="74295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6966" y="6409170"/>
            <a:ext cx="3008194" cy="448830"/>
          </a:xfrm>
          <a:prstGeom prst="rect">
            <a:avLst/>
          </a:prstGeom>
        </p:spPr>
        <p:txBody>
          <a:bodyPr/>
          <a:lstStyle/>
          <a:p>
            <a:fld id="{D4A213A3-10E9-421F-81BE-56E0786AB515}" type="datetime2">
              <a:rPr lang="en-US" smtClean="0"/>
              <a:pPr/>
              <a:t>Saturday, October 11,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74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425" y="793080"/>
            <a:ext cx="8320734" cy="12334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4425" y="2114942"/>
            <a:ext cx="8320734" cy="395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6966" y="6409170"/>
            <a:ext cx="3008194" cy="448830"/>
          </a:xfrm>
          <a:prstGeom prst="rect">
            <a:avLst/>
          </a:prstGeom>
        </p:spPr>
        <p:txBody>
          <a:bodyPr/>
          <a:lstStyle/>
          <a:p>
            <a:fld id="{6B12B50C-7EEE-46CD-BAF7-BBC4026D959A}" type="datetime2">
              <a:rPr lang="en-US" smtClean="0"/>
              <a:pPr/>
              <a:t>Saturday, October 11,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3E1475-90FA-FECE-C017-F114E86438E5}"/>
              </a:ext>
            </a:extLst>
          </p:cNvPr>
          <p:cNvSpPr txBox="1"/>
          <p:nvPr userDrawn="1"/>
        </p:nvSpPr>
        <p:spPr>
          <a:xfrm>
            <a:off x="8235510" y="162390"/>
            <a:ext cx="1602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작성자 </a:t>
            </a:r>
            <a:r>
              <a:rPr lang="en-US" altLang="ko-KR" sz="12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: Harry</a:t>
            </a:r>
          </a:p>
          <a:p>
            <a:r>
              <a:rPr lang="ko-KR" altLang="en-US" sz="12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작성일 </a:t>
            </a:r>
            <a:r>
              <a:rPr lang="en-US" altLang="ko-KR" sz="12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: 2025.10.04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1E6349-FBB7-5FC2-A590-67B289F15792}"/>
              </a:ext>
            </a:extLst>
          </p:cNvPr>
          <p:cNvSpPr txBox="1"/>
          <p:nvPr userDrawn="1"/>
        </p:nvSpPr>
        <p:spPr>
          <a:xfrm>
            <a:off x="124285" y="131746"/>
            <a:ext cx="447786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2000" b="1" dirty="0"/>
              <a:t>논문 주제 선정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106881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007" y="1709741"/>
            <a:ext cx="8097797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2005" y="4976330"/>
            <a:ext cx="8097798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6966" y="6409170"/>
            <a:ext cx="3008194" cy="448830"/>
          </a:xfrm>
          <a:prstGeom prst="rect">
            <a:avLst/>
          </a:prstGeom>
        </p:spPr>
        <p:txBody>
          <a:bodyPr/>
          <a:lstStyle/>
          <a:p>
            <a:fld id="{8D4211C4-AE09-4254-A5E3-6DA9B099C971}" type="datetime2">
              <a:rPr lang="en-US" smtClean="0"/>
              <a:pPr/>
              <a:t>Saturday, October 11,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4" descr="067149_LME PPtemp12_crop.jpg">
            <a:extLst>
              <a:ext uri="{FF2B5EF4-FFF2-40B4-BE49-F238E27FC236}">
                <a16:creationId xmlns:a16="http://schemas.microsoft.com/office/drawing/2014/main" id="{8F2FB141-E251-4756-B696-27594F11D0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2184" y="3331010"/>
            <a:ext cx="2753816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4741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294" y="457200"/>
            <a:ext cx="8376668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8294" y="1996141"/>
            <a:ext cx="4042794" cy="418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996141"/>
            <a:ext cx="4210050" cy="418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6966" y="6409170"/>
            <a:ext cx="3008194" cy="448830"/>
          </a:xfrm>
          <a:prstGeom prst="rect">
            <a:avLst/>
          </a:prstGeom>
        </p:spPr>
        <p:txBody>
          <a:bodyPr/>
          <a:lstStyle/>
          <a:p>
            <a:fld id="{681742C3-E082-4760-93B2-E209268DD00C}" type="datetime2">
              <a:rPr lang="en-US" smtClean="0"/>
              <a:pPr/>
              <a:t>Saturday, October 11,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35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899" y="457200"/>
            <a:ext cx="8114355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1898" y="1681163"/>
            <a:ext cx="37611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1898" y="2505075"/>
            <a:ext cx="3761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55163" y="1681163"/>
            <a:ext cx="40710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55162" y="2505075"/>
            <a:ext cx="40710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6966" y="6409170"/>
            <a:ext cx="3008194" cy="448830"/>
          </a:xfrm>
          <a:prstGeom prst="rect">
            <a:avLst/>
          </a:prstGeom>
        </p:spPr>
        <p:txBody>
          <a:bodyPr/>
          <a:lstStyle/>
          <a:p>
            <a:fld id="{3B6FC950-F824-48B9-B984-CAEE265865E5}" type="datetime2">
              <a:rPr lang="en-US" smtClean="0"/>
              <a:pPr/>
              <a:t>Saturday, October 11,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81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425" y="457200"/>
            <a:ext cx="8110537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6966" y="6409170"/>
            <a:ext cx="3008194" cy="448830"/>
          </a:xfrm>
          <a:prstGeom prst="rect">
            <a:avLst/>
          </a:prstGeom>
        </p:spPr>
        <p:txBody>
          <a:bodyPr/>
          <a:lstStyle/>
          <a:p>
            <a:fld id="{BC8E3A0F-68E7-4D17-BB84-ED1BA4F6AC6B}" type="datetime2">
              <a:rPr lang="en-US" smtClean="0"/>
              <a:pPr/>
              <a:t>Saturday, October 11,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03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6966" y="6409170"/>
            <a:ext cx="3008194" cy="448830"/>
          </a:xfrm>
          <a:prstGeom prst="rect">
            <a:avLst/>
          </a:prstGeom>
        </p:spPr>
        <p:txBody>
          <a:bodyPr/>
          <a:lstStyle/>
          <a:p>
            <a:fld id="{EDB7BC4F-EDA1-4BA2-BFF3-FE5B31CCB58B}" type="datetime2">
              <a:rPr lang="en-US" smtClean="0"/>
              <a:pPr/>
              <a:t>Saturday, October 11,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316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489" y="457200"/>
            <a:ext cx="3194943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9106" y="987428"/>
            <a:ext cx="4637146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1489" y="2799187"/>
            <a:ext cx="3194943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6966" y="6409170"/>
            <a:ext cx="3008194" cy="448830"/>
          </a:xfrm>
          <a:prstGeom prst="rect">
            <a:avLst/>
          </a:prstGeom>
        </p:spPr>
        <p:txBody>
          <a:bodyPr/>
          <a:lstStyle/>
          <a:p>
            <a:fld id="{3AAE694C-1394-4838-A564-7380835C2E77}" type="datetime2">
              <a:rPr lang="en-US" smtClean="0"/>
              <a:pPr/>
              <a:t>Saturday, October 11,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34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411" y="681135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40728" y="858417"/>
            <a:ext cx="4485524" cy="500263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20411" y="2281335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6966" y="6409170"/>
            <a:ext cx="3008194" cy="448830"/>
          </a:xfrm>
          <a:prstGeom prst="rect">
            <a:avLst/>
          </a:prstGeom>
        </p:spPr>
        <p:txBody>
          <a:bodyPr/>
          <a:lstStyle/>
          <a:p>
            <a:fld id="{CAB84B19-1A00-4EDB-8425-E1827A377364}" type="datetime2">
              <a:rPr lang="en-US" smtClean="0"/>
              <a:pPr/>
              <a:t>Saturday, October 11,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47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6966" y="6409170"/>
            <a:ext cx="3008194" cy="448830"/>
          </a:xfrm>
          <a:prstGeom prst="rect">
            <a:avLst/>
          </a:prstGeom>
        </p:spPr>
        <p:txBody>
          <a:bodyPr/>
          <a:lstStyle/>
          <a:p>
            <a:fld id="{3D5DABC0-2199-478F-BA77-33A651B6CB89}" type="datetime2">
              <a:rPr lang="en-US" smtClean="0"/>
              <a:pPr/>
              <a:t>Saturday, October 11,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49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457202"/>
            <a:ext cx="2135981" cy="5719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457202"/>
            <a:ext cx="6284119" cy="5719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6966" y="6409170"/>
            <a:ext cx="3008194" cy="448830"/>
          </a:xfrm>
          <a:prstGeom prst="rect">
            <a:avLst/>
          </a:prstGeom>
        </p:spPr>
        <p:txBody>
          <a:bodyPr/>
          <a:lstStyle/>
          <a:p>
            <a:fld id="{D72230C6-DF61-47F4-B8C5-1B70E884BF06}" type="datetime2">
              <a:rPr lang="en-US" smtClean="0"/>
              <a:pPr/>
              <a:t>Saturday, October 11,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32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426" y="361666"/>
            <a:ext cx="7970931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4426" y="2286003"/>
            <a:ext cx="7970931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71663" y="1955081"/>
            <a:ext cx="4114800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81613" y="6408742"/>
            <a:ext cx="356405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B9EAB3BA-07EE-4B64-A177-47C30D77587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4" descr="067149_LME PPtemp14_crop.jpg">
            <a:extLst>
              <a:ext uri="{FF2B5EF4-FFF2-40B4-BE49-F238E27FC236}">
                <a16:creationId xmlns:a16="http://schemas.microsoft.com/office/drawing/2014/main" id="{0A96A9DE-BC8E-4A60-9D8B-6A6D1113DF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05" t="63105"/>
          <a:stretch/>
        </p:blipFill>
        <p:spPr bwMode="auto">
          <a:xfrm>
            <a:off x="7729537" y="4484078"/>
            <a:ext cx="2176462" cy="188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E7BAB1-3DF0-479D-891E-B84FD4B7FB79}"/>
              </a:ext>
            </a:extLst>
          </p:cNvPr>
          <p:cNvSpPr/>
          <p:nvPr userDrawn="1"/>
        </p:nvSpPr>
        <p:spPr>
          <a:xfrm>
            <a:off x="1" y="6244701"/>
            <a:ext cx="8653927" cy="128873"/>
          </a:xfrm>
          <a:prstGeom prst="rect">
            <a:avLst/>
          </a:prstGeom>
          <a:gradFill flip="none" rotWithShape="1">
            <a:gsLst>
              <a:gs pos="0">
                <a:srgbClr val="000066"/>
              </a:gs>
              <a:gs pos="44000">
                <a:srgbClr val="0000FF"/>
              </a:gs>
              <a:gs pos="72000">
                <a:srgbClr val="7030A0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C4D58CF-7B36-457A-B6BA-21DE7E0796C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82" y="6133159"/>
            <a:ext cx="1252071" cy="724413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27CFBE-F2BC-6240-A214-3C8E70D8DB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C5C45-4288-40BA-B762-AA972CB958B6}" type="datetimeFigureOut">
              <a:rPr lang="ko-KR" altLang="en-US" smtClean="0"/>
              <a:t>2025-10-11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689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97D3A-7B51-2D24-4B8F-C9E38726F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13F8D9-1AE2-7AD0-BA86-611663CCB3BF}"/>
              </a:ext>
            </a:extLst>
          </p:cNvPr>
          <p:cNvSpPr txBox="1"/>
          <p:nvPr/>
        </p:nvSpPr>
        <p:spPr>
          <a:xfrm>
            <a:off x="124285" y="6471823"/>
            <a:ext cx="287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65000"/>
                  </a:schemeClr>
                </a:solidFill>
                <a:latin typeface="Adobe Garamond Pro Bold" panose="02020702060506020403" pitchFamily="18" charset="0"/>
                <a:ea typeface="HY헤드라인M" panose="02030600000101010101" pitchFamily="18" charset="-127"/>
              </a:rPr>
              <a:t>Confidential Star LAB. 2025</a:t>
            </a:r>
            <a:endParaRPr lang="ko-KR" altLang="en-US" sz="1400" dirty="0">
              <a:solidFill>
                <a:schemeClr val="bg1">
                  <a:lumMod val="65000"/>
                </a:schemeClr>
              </a:solidFill>
              <a:latin typeface="Adobe Garamond Pro Bold" panose="02020702060506020403" pitchFamily="18" charset="0"/>
              <a:ea typeface="HY헤드라인M" panose="02030600000101010101" pitchFamily="18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DC0E86E-2521-D80F-CDA6-B4371320C3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808535"/>
              </p:ext>
            </p:extLst>
          </p:nvPr>
        </p:nvGraphicFramePr>
        <p:xfrm>
          <a:off x="114669" y="687008"/>
          <a:ext cx="9676662" cy="52579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0278">
                  <a:extLst>
                    <a:ext uri="{9D8B030D-6E8A-4147-A177-3AD203B41FA5}">
                      <a16:colId xmlns:a16="http://schemas.microsoft.com/office/drawing/2014/main" val="869652140"/>
                    </a:ext>
                  </a:extLst>
                </a:gridCol>
                <a:gridCol w="7906384">
                  <a:extLst>
                    <a:ext uri="{9D8B030D-6E8A-4147-A177-3AD203B41FA5}">
                      <a16:colId xmlns:a16="http://schemas.microsoft.com/office/drawing/2014/main" val="1351509795"/>
                    </a:ext>
                  </a:extLst>
                </a:gridCol>
              </a:tblGrid>
              <a:tr h="42079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주제 </a:t>
                      </a:r>
                      <a:r>
                        <a:rPr lang="en-US" altLang="ko-KR" sz="2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1</a:t>
                      </a:r>
                      <a:endParaRPr lang="ko-KR" altLang="en-US" sz="2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670404"/>
                  </a:ext>
                </a:extLst>
              </a:tr>
              <a:tr h="9578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주제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필터링 기법을 이용한 거리 센서 정확도 비교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11030653"/>
                  </a:ext>
                </a:extLst>
              </a:tr>
              <a:tr h="9578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목표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여러 필터로 노이즈를 줄여 거리 측정 정확도 비교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1939468"/>
                  </a:ext>
                </a:extLst>
              </a:tr>
              <a:tr h="9578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핵심 변수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원시 </a:t>
                      </a:r>
                      <a:r>
                        <a:rPr lang="ko-KR" altLang="en-US" sz="200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센서값</a:t>
                      </a:r>
                      <a:r>
                        <a:rPr lang="en-US" altLang="ko-KR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이동평균</a:t>
                      </a:r>
                      <a:r>
                        <a:rPr lang="en-US" altLang="ko-KR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가산필터 </a:t>
                      </a:r>
                      <a:r>
                        <a:rPr lang="en-US" altLang="ko-KR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α, </a:t>
                      </a:r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중앙값</a:t>
                      </a:r>
                      <a:r>
                        <a:rPr lang="en-US" altLang="ko-KR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lang="ko-KR" altLang="en-US" sz="200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최빈값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75343591"/>
                  </a:ext>
                </a:extLst>
              </a:tr>
              <a:tr h="9578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평가방식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얼마나 정확한지</a:t>
                      </a:r>
                      <a:r>
                        <a:rPr lang="en-US" altLang="ko-KR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(</a:t>
                      </a:r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실제 거리와 오차 비교</a:t>
                      </a:r>
                      <a:r>
                        <a:rPr lang="en-US" altLang="ko-KR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얼마나 일정한지</a:t>
                      </a:r>
                      <a:r>
                        <a:rPr lang="en-US" altLang="ko-KR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(RMSE)</a:t>
                      </a:r>
                    </a:p>
                    <a:p>
                      <a:pPr algn="ctr" latinLnBrk="1"/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얼마나 빠르게 </a:t>
                      </a:r>
                      <a:r>
                        <a:rPr lang="ko-KR" altLang="en-US" sz="200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사용할수</a:t>
                      </a:r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 있는지</a:t>
                      </a:r>
                      <a:r>
                        <a:rPr lang="en-US" altLang="ko-KR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(</a:t>
                      </a:r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연산 처리 속도 비교</a:t>
                      </a:r>
                      <a:r>
                        <a:rPr lang="en-US" altLang="ko-KR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69770271"/>
                  </a:ext>
                </a:extLst>
              </a:tr>
              <a:tr h="9578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기대효과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노이즈</a:t>
                      </a:r>
                      <a:r>
                        <a:rPr lang="en-US" altLang="ko-KR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/</a:t>
                      </a:r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지연 트레이드오프 이해</a:t>
                      </a:r>
                      <a:r>
                        <a:rPr lang="en-US" altLang="ko-KR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및</a:t>
                      </a:r>
                      <a:r>
                        <a:rPr lang="en-US" altLang="ko-KR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최적 필터 선택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확률과 통계 수업 내용 활용 기회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0715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113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C3985-7171-1E9B-4B17-FFA740919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2D72A9-A198-51D8-6D4E-58F4C6F543EC}"/>
              </a:ext>
            </a:extLst>
          </p:cNvPr>
          <p:cNvSpPr txBox="1"/>
          <p:nvPr/>
        </p:nvSpPr>
        <p:spPr>
          <a:xfrm>
            <a:off x="124285" y="6471823"/>
            <a:ext cx="287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65000"/>
                  </a:schemeClr>
                </a:solidFill>
                <a:latin typeface="Adobe Garamond Pro Bold" panose="02020702060506020403" pitchFamily="18" charset="0"/>
                <a:ea typeface="HY헤드라인M" panose="02030600000101010101" pitchFamily="18" charset="-127"/>
              </a:rPr>
              <a:t>Confidential Star LAB. 2025</a:t>
            </a:r>
            <a:endParaRPr lang="ko-KR" altLang="en-US" sz="1400" dirty="0">
              <a:solidFill>
                <a:schemeClr val="bg1">
                  <a:lumMod val="65000"/>
                </a:schemeClr>
              </a:solidFill>
              <a:latin typeface="Adobe Garamond Pro Bold" panose="02020702060506020403" pitchFamily="18" charset="0"/>
              <a:ea typeface="HY헤드라인M" panose="02030600000101010101" pitchFamily="18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9AEA8D3-6EE8-0308-8937-4C79D31BF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985730"/>
              </p:ext>
            </p:extLst>
          </p:nvPr>
        </p:nvGraphicFramePr>
        <p:xfrm>
          <a:off x="114669" y="687008"/>
          <a:ext cx="9676662" cy="556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0278">
                  <a:extLst>
                    <a:ext uri="{9D8B030D-6E8A-4147-A177-3AD203B41FA5}">
                      <a16:colId xmlns:a16="http://schemas.microsoft.com/office/drawing/2014/main" val="869652140"/>
                    </a:ext>
                  </a:extLst>
                </a:gridCol>
                <a:gridCol w="7906384">
                  <a:extLst>
                    <a:ext uri="{9D8B030D-6E8A-4147-A177-3AD203B41FA5}">
                      <a16:colId xmlns:a16="http://schemas.microsoft.com/office/drawing/2014/main" val="1351509795"/>
                    </a:ext>
                  </a:extLst>
                </a:gridCol>
              </a:tblGrid>
              <a:tr h="42079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주제 </a:t>
                      </a:r>
                      <a:r>
                        <a:rPr lang="en-US" altLang="ko-KR" sz="2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2</a:t>
                      </a:r>
                      <a:endParaRPr lang="ko-KR" altLang="en-US" sz="2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670404"/>
                  </a:ext>
                </a:extLst>
              </a:tr>
              <a:tr h="9578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주제</a:t>
                      </a:r>
                      <a:endParaRPr lang="en-US" altLang="ko-KR" sz="2000" b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엔코더</a:t>
                      </a:r>
                      <a:r>
                        <a:rPr lang="ko-KR" altLang="en-US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모터를 이용한 </a:t>
                      </a: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RPM </a:t>
                      </a:r>
                      <a:r>
                        <a:rPr lang="ko-KR" altLang="en-US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제어 성능 비교</a:t>
                      </a:r>
                      <a:endParaRPr lang="en-US" altLang="ko-KR" sz="2000" b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11030653"/>
                  </a:ext>
                </a:extLst>
              </a:tr>
              <a:tr h="9578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목표</a:t>
                      </a:r>
                      <a:endParaRPr lang="en-US" altLang="ko-KR" sz="2000" b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오픈 루프 → </a:t>
                      </a: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 → PI → PID</a:t>
                      </a:r>
                      <a:r>
                        <a:rPr lang="ko-KR" altLang="en-US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제어기를 바꾸며 속도 응답을 비교하고 최적 제어 조합 찾기</a:t>
                      </a:r>
                      <a:endParaRPr lang="en-US" altLang="ko-KR" sz="2000" b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1939468"/>
                  </a:ext>
                </a:extLst>
              </a:tr>
              <a:tr h="9578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핵심 변수</a:t>
                      </a:r>
                      <a:endParaRPr lang="en-US" altLang="ko-KR" sz="2000" b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 </a:t>
                      </a: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RPM, </a:t>
                      </a:r>
                      <a:r>
                        <a:rPr lang="en-US" altLang="ko-KR" sz="2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Kp·Ki·Kd</a:t>
                      </a: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게인</a:t>
                      </a:r>
                      <a:endParaRPr lang="en-US" altLang="ko-KR" sz="2000" b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75343591"/>
                  </a:ext>
                </a:extLst>
              </a:tr>
              <a:tr h="9578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평가방식</a:t>
                      </a:r>
                      <a:endParaRPr lang="en-US" altLang="ko-KR" sz="2000" b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얼마나 정확한지</a:t>
                      </a: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정상상태 오차</a:t>
                      </a: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b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얼마나 튀는지</a:t>
                      </a: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 </a:t>
                      </a:r>
                      <a:r>
                        <a:rPr lang="ko-KR" altLang="en-US" sz="2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오버슈트</a:t>
                      </a:r>
                      <a:r>
                        <a:rPr lang="ko-KR" altLang="en-US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%)</a:t>
                      </a:r>
                      <a:b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얼마나 빨리 안정되는지</a:t>
                      </a: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수렴 시간</a:t>
                      </a: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b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얼마나 매끄러운지</a:t>
                      </a: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진동</a:t>
                      </a: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2000" b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69770271"/>
                  </a:ext>
                </a:extLst>
              </a:tr>
              <a:tr h="9578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기대효과</a:t>
                      </a:r>
                      <a:endParaRPr lang="en-US" altLang="ko-KR" sz="2000" b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피드백과 튜닝의 개념 이해</a:t>
                      </a: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제어기별 장단점 비교</a:t>
                      </a:r>
                      <a:r>
                        <a:rPr lang="en-US" altLang="ko-KR" sz="2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</a:p>
                    <a:p>
                      <a:pPr algn="ctr" latinLnBrk="1"/>
                      <a:r>
                        <a:rPr lang="ko-KR" altLang="en-US" sz="2000" b="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수학적으로 연결할 수 있다면 미적분에 대한 이해도 함께 진행</a:t>
                      </a:r>
                      <a:endParaRPr lang="en-US" altLang="ko-KR" sz="2000" b="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0715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3799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F30E5-ECFF-5D06-4EB9-7C39ACF90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423A42-A355-DBD2-71A3-64ABA43B25D7}"/>
              </a:ext>
            </a:extLst>
          </p:cNvPr>
          <p:cNvSpPr txBox="1"/>
          <p:nvPr/>
        </p:nvSpPr>
        <p:spPr>
          <a:xfrm>
            <a:off x="124285" y="6471823"/>
            <a:ext cx="287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65000"/>
                  </a:schemeClr>
                </a:solidFill>
                <a:latin typeface="Adobe Garamond Pro Bold" panose="02020702060506020403" pitchFamily="18" charset="0"/>
                <a:ea typeface="HY헤드라인M" panose="02030600000101010101" pitchFamily="18" charset="-127"/>
              </a:rPr>
              <a:t>Confidential Star LAB. 2025</a:t>
            </a:r>
            <a:endParaRPr lang="ko-KR" altLang="en-US" sz="1400" dirty="0">
              <a:solidFill>
                <a:schemeClr val="bg1">
                  <a:lumMod val="65000"/>
                </a:schemeClr>
              </a:solidFill>
              <a:latin typeface="Adobe Garamond Pro Bold" panose="02020702060506020403" pitchFamily="18" charset="0"/>
              <a:ea typeface="HY헤드라인M" panose="02030600000101010101" pitchFamily="18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5A9B974-BD8D-82E0-BA04-9C748F7C8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595013"/>
              </p:ext>
            </p:extLst>
          </p:nvPr>
        </p:nvGraphicFramePr>
        <p:xfrm>
          <a:off x="114669" y="687008"/>
          <a:ext cx="9676662" cy="5209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0278">
                  <a:extLst>
                    <a:ext uri="{9D8B030D-6E8A-4147-A177-3AD203B41FA5}">
                      <a16:colId xmlns:a16="http://schemas.microsoft.com/office/drawing/2014/main" val="869652140"/>
                    </a:ext>
                  </a:extLst>
                </a:gridCol>
                <a:gridCol w="7906384">
                  <a:extLst>
                    <a:ext uri="{9D8B030D-6E8A-4147-A177-3AD203B41FA5}">
                      <a16:colId xmlns:a16="http://schemas.microsoft.com/office/drawing/2014/main" val="1351509795"/>
                    </a:ext>
                  </a:extLst>
                </a:gridCol>
              </a:tblGrid>
              <a:tr h="42079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주제 </a:t>
                      </a:r>
                      <a:r>
                        <a:rPr lang="en-US" altLang="ko-KR" sz="2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3</a:t>
                      </a:r>
                      <a:endParaRPr lang="ko-KR" altLang="en-US" sz="2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85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670404"/>
                  </a:ext>
                </a:extLst>
              </a:tr>
              <a:tr h="9578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주제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R/G/B LED</a:t>
                      </a:r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와 조도 센서를 이용한 </a:t>
                      </a:r>
                      <a:r>
                        <a:rPr lang="ko-KR" altLang="en-US" sz="200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광효율</a:t>
                      </a:r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 비교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11030653"/>
                  </a:ext>
                </a:extLst>
              </a:tr>
              <a:tr h="9578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목표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전류를 바꿔가며 </a:t>
                      </a:r>
                      <a: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R/G/B LED</a:t>
                      </a:r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밝기 변화를 측정하고 색별 </a:t>
                      </a:r>
                      <a:r>
                        <a:rPr lang="ko-KR" altLang="en-US" sz="2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광효율</a:t>
                      </a:r>
                      <a: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(lux/mA)</a:t>
                      </a:r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비교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1939468"/>
                  </a:ext>
                </a:extLst>
              </a:tr>
              <a:tr h="9578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핵심 변수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 </a:t>
                      </a:r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색상</a:t>
                      </a:r>
                      <a: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</a:t>
                      </a:r>
                      <a: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녹</a:t>
                      </a:r>
                      <a: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</a:t>
                      </a:r>
                      <a: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</a:t>
                      </a:r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구동 전류</a:t>
                      </a:r>
                      <a: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(ex) 5·10·15·20 mA)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75343591"/>
                  </a:ext>
                </a:extLst>
              </a:tr>
              <a:tr h="9578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평가방식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얼마나 </a:t>
                      </a:r>
                      <a:r>
                        <a:rPr lang="ko-KR" altLang="en-US" sz="2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밝은지</a:t>
                      </a:r>
                      <a: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조도 평균</a:t>
                      </a:r>
                      <a: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b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얼마나 효율적인지</a:t>
                      </a:r>
                      <a: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조도</a:t>
                      </a:r>
                      <a: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전류</a:t>
                      </a:r>
                      <a: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선형성</a:t>
                      </a:r>
                      <a:r>
                        <a:rPr lang="en-US" altLang="ko-KR" sz="2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69770271"/>
                  </a:ext>
                </a:extLst>
              </a:tr>
              <a:tr h="9578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 Semilight" panose="020B0502040204020203" pitchFamily="50" charset="-127"/>
                        </a:rPr>
                        <a:t>기대효과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색과 파장에 따른 밝기 차이 이해</a:t>
                      </a:r>
                      <a:r>
                        <a:rPr lang="en-US" altLang="ko-KR" sz="2000" dirty="0"/>
                        <a:t> </a:t>
                      </a:r>
                    </a:p>
                    <a:p>
                      <a:pPr algn="ctr" latinLnBrk="1"/>
                      <a:r>
                        <a:rPr lang="ko-KR" altLang="en-US" sz="2000" dirty="0"/>
                        <a:t>에너지 효율 개념 습득</a:t>
                      </a:r>
                      <a:endParaRPr lang="en-US" altLang="ko-KR" sz="2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0715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613189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AnalogousFromRegularSeedRightStep">
      <a:dk1>
        <a:srgbClr val="000000"/>
      </a:dk1>
      <a:lt1>
        <a:srgbClr val="FFFFFF"/>
      </a:lt1>
      <a:dk2>
        <a:srgbClr val="27311C"/>
      </a:dk2>
      <a:lt2>
        <a:srgbClr val="F0F2F3"/>
      </a:lt2>
      <a:accent1>
        <a:srgbClr val="C38F4D"/>
      </a:accent1>
      <a:accent2>
        <a:srgbClr val="A7A537"/>
      </a:accent2>
      <a:accent3>
        <a:srgbClr val="84AE44"/>
      </a:accent3>
      <a:accent4>
        <a:srgbClr val="51B13B"/>
      </a:accent4>
      <a:accent5>
        <a:srgbClr val="48B661"/>
      </a:accent5>
      <a:accent6>
        <a:srgbClr val="3BB187"/>
      </a:accent6>
      <a:hlink>
        <a:srgbClr val="4279C0"/>
      </a:hlink>
      <a:folHlink>
        <a:srgbClr val="7F7F7F"/>
      </a:folHlink>
    </a:clrScheme>
    <a:fontScheme name="Avenir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27702</TotalTime>
  <Words>258</Words>
  <Application>Microsoft Office PowerPoint</Application>
  <PresentationFormat>A4 용지(210x297mm)</PresentationFormat>
  <Paragraphs>41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Adobe Garamond Pro Bold</vt:lpstr>
      <vt:lpstr>맑은 고딕</vt:lpstr>
      <vt:lpstr>Malgun Gothic Semilight</vt:lpstr>
      <vt:lpstr>Arial</vt:lpstr>
      <vt:lpstr>Tw Cen MT</vt:lpstr>
      <vt:lpstr>GradientRiseVTI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Story  경기도 융합과학교육원 부설 영재교육원 로봇영재과정 “초등로봇반” 지원</dc:title>
  <dc:creator>Ray_Choi</dc:creator>
  <cp:lastModifiedBy>STARLAB</cp:lastModifiedBy>
  <cp:revision>1124</cp:revision>
  <cp:lastPrinted>2021-01-04T07:39:42Z</cp:lastPrinted>
  <dcterms:created xsi:type="dcterms:W3CDTF">2020-11-05T05:26:01Z</dcterms:created>
  <dcterms:modified xsi:type="dcterms:W3CDTF">2025-10-11T08:40:49Z</dcterms:modified>
</cp:coreProperties>
</file>